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Montserrat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jGsbUCz4KMM3bIazFvX2gls+E8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jpg"/><Relationship Id="rId5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688366" y="2195877"/>
            <a:ext cx="14911267" cy="2947623"/>
            <a:chOff x="0" y="-247650"/>
            <a:chExt cx="19881690" cy="3930163"/>
          </a:xfrm>
        </p:grpSpPr>
        <p:sp>
          <p:nvSpPr>
            <p:cNvPr id="85" name="Google Shape;85;p1"/>
            <p:cNvSpPr txBox="1"/>
            <p:nvPr/>
          </p:nvSpPr>
          <p:spPr>
            <a:xfrm>
              <a:off x="0" y="-247650"/>
              <a:ext cx="19881690" cy="2892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48" u="none" cap="none" strike="noStrike">
                  <a:solidFill>
                    <a:srgbClr val="1D1D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DEEPFLOW HPC</a:t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3496102" y="3053717"/>
              <a:ext cx="12889485" cy="628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73" u="none" cap="none" strike="noStrike">
                  <a:solidFill>
                    <a:srgbClr val="1D1D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 NAME: ALGORITHM AVENGERS</a:t>
              </a:r>
              <a:endParaRPr/>
            </a:p>
          </p:txBody>
        </p:sp>
        <p:cxnSp>
          <p:nvCxnSpPr>
            <p:cNvPr id="87" name="Google Shape;87;p1"/>
            <p:cNvCxnSpPr/>
            <p:nvPr/>
          </p:nvCxnSpPr>
          <p:spPr>
            <a:xfrm>
              <a:off x="803522" y="2550983"/>
              <a:ext cx="18274646" cy="93400"/>
            </a:xfrm>
            <a:prstGeom prst="straightConnector1">
              <a:avLst/>
            </a:prstGeom>
            <a:noFill/>
            <a:ln cap="flat" cmpd="sng" w="76000">
              <a:solidFill>
                <a:srgbClr val="A2823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8" name="Google Shape;88;p1"/>
          <p:cNvGrpSpPr/>
          <p:nvPr/>
        </p:nvGrpSpPr>
        <p:grpSpPr>
          <a:xfrm>
            <a:off x="4794242" y="407278"/>
            <a:ext cx="8699517" cy="1585745"/>
            <a:chOff x="0" y="0"/>
            <a:chExt cx="11599355" cy="2114326"/>
          </a:xfrm>
        </p:grpSpPr>
        <p:sp>
          <p:nvSpPr>
            <p:cNvPr id="89" name="Google Shape;89;p1"/>
            <p:cNvSpPr/>
            <p:nvPr/>
          </p:nvSpPr>
          <p:spPr>
            <a:xfrm>
              <a:off x="9460592" y="279431"/>
              <a:ext cx="2138763" cy="1555464"/>
            </a:xfrm>
            <a:custGeom>
              <a:rect b="b" l="l" r="r" t="t"/>
              <a:pathLst>
                <a:path extrusionOk="0" h="1555464" w="2138763">
                  <a:moveTo>
                    <a:pt x="0" y="0"/>
                  </a:moveTo>
                  <a:lnTo>
                    <a:pt x="2138763" y="0"/>
                  </a:lnTo>
                  <a:lnTo>
                    <a:pt x="2138763" y="1555464"/>
                  </a:lnTo>
                  <a:lnTo>
                    <a:pt x="0" y="15554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0" name="Google Shape;90;p1"/>
            <p:cNvSpPr/>
            <p:nvPr/>
          </p:nvSpPr>
          <p:spPr>
            <a:xfrm>
              <a:off x="4208724" y="0"/>
              <a:ext cx="3151981" cy="1592870"/>
            </a:xfrm>
            <a:custGeom>
              <a:rect b="b" l="l" r="r" t="t"/>
              <a:pathLst>
                <a:path extrusionOk="0" h="1592870" w="3151981">
                  <a:moveTo>
                    <a:pt x="0" y="0"/>
                  </a:moveTo>
                  <a:lnTo>
                    <a:pt x="3151981" y="0"/>
                  </a:lnTo>
                  <a:lnTo>
                    <a:pt x="3151981" y="1592870"/>
                  </a:lnTo>
                  <a:lnTo>
                    <a:pt x="0" y="159287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-371364" t="-5279"/>
              </a:stretch>
            </a:blipFill>
            <a:ln>
              <a:noFill/>
            </a:ln>
          </p:spPr>
        </p:sp>
        <p:sp>
          <p:nvSpPr>
            <p:cNvPr id="91" name="Google Shape;91;p1"/>
            <p:cNvSpPr/>
            <p:nvPr/>
          </p:nvSpPr>
          <p:spPr>
            <a:xfrm>
              <a:off x="0" y="0"/>
              <a:ext cx="2114326" cy="2114326"/>
            </a:xfrm>
            <a:custGeom>
              <a:rect b="b" l="l" r="r" t="t"/>
              <a:pathLst>
                <a:path extrusionOk="0" h="2114326" w="2114326">
                  <a:moveTo>
                    <a:pt x="0" y="0"/>
                  </a:moveTo>
                  <a:lnTo>
                    <a:pt x="2114326" y="0"/>
                  </a:lnTo>
                  <a:lnTo>
                    <a:pt x="2114326" y="2114326"/>
                  </a:lnTo>
                  <a:lnTo>
                    <a:pt x="0" y="21143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92" name="Google Shape;92;p1"/>
          <p:cNvSpPr txBox="1"/>
          <p:nvPr/>
        </p:nvSpPr>
        <p:spPr>
          <a:xfrm>
            <a:off x="242357" y="7746364"/>
            <a:ext cx="8901643" cy="2221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3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TEAM LEADER:-</a:t>
            </a:r>
            <a:r>
              <a:rPr b="1" i="0" lang="en-US" sz="25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  <a:p>
            <a:pPr indent="-274584" lvl="1" marL="54917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43"/>
              <a:buFont typeface="Arial"/>
              <a:buChar char="•"/>
            </a:pPr>
            <a:r>
              <a:rPr b="1" i="0" lang="en-US" sz="25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Harshvardhan Singh Shekhawat</a:t>
            </a:r>
            <a:endParaRPr/>
          </a:p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3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TEAM MEMBERS:-</a:t>
            </a:r>
            <a:endParaRPr/>
          </a:p>
          <a:p>
            <a:pPr indent="-274584" lvl="1" marL="54917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43"/>
              <a:buFont typeface="Arial"/>
              <a:buChar char="•"/>
            </a:pPr>
            <a:r>
              <a:rPr b="1" i="0" lang="en-US" sz="25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Ayush Kushwaha</a:t>
            </a:r>
            <a:endParaRPr/>
          </a:p>
          <a:p>
            <a:pPr indent="-274584" lvl="1" marL="54917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43"/>
              <a:buFont typeface="Arial"/>
              <a:buChar char="•"/>
            </a:pPr>
            <a:r>
              <a:rPr b="1" i="0" lang="en-US" sz="25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Ashutosh Pratap Singh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3530870" y="7746364"/>
            <a:ext cx="4572194" cy="1773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3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MENTORS:-</a:t>
            </a:r>
            <a:endParaRPr/>
          </a:p>
          <a:p>
            <a:pPr indent="-274584" lvl="1" marL="549170" marR="0" rtl="0" algn="just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43"/>
              <a:buFont typeface="Arial"/>
              <a:buChar char="•"/>
            </a:pPr>
            <a:r>
              <a:rPr b="1" i="0" lang="en-US" sz="25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Shashank Sir</a:t>
            </a:r>
            <a:endParaRPr/>
          </a:p>
          <a:p>
            <a:pPr indent="-274584" lvl="1" marL="549170" marR="0" rtl="0" algn="just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43"/>
              <a:buFont typeface="Arial"/>
              <a:buChar char="•"/>
            </a:pPr>
            <a:r>
              <a:rPr b="1" i="0" lang="en-US" sz="25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Samrit Kumar Sir</a:t>
            </a:r>
            <a:endParaRPr/>
          </a:p>
          <a:p>
            <a:pPr indent="0" lvl="0" marL="0" marR="0" rtl="0" algn="just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43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545758" y="2459189"/>
            <a:ext cx="702627" cy="548049"/>
          </a:xfrm>
          <a:custGeom>
            <a:rect b="b" l="l" r="r" t="t"/>
            <a:pathLst>
              <a:path extrusionOk="0" h="548049" w="702627">
                <a:moveTo>
                  <a:pt x="0" y="0"/>
                </a:moveTo>
                <a:lnTo>
                  <a:pt x="702627" y="0"/>
                </a:lnTo>
                <a:lnTo>
                  <a:pt x="702627" y="548049"/>
                </a:lnTo>
                <a:lnTo>
                  <a:pt x="0" y="548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5612926" y="923925"/>
            <a:ext cx="7062148" cy="953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ABOUT THE CODE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906596" y="3293891"/>
            <a:ext cx="15362229" cy="6314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Montserrat"/>
              <a:buAutoNum type="arabicPeriod"/>
            </a:pP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Reference Code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Started with a baseline reference implementation.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Montserrat"/>
              <a:buAutoNum type="arabicPeriod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RAY Framework Implementation</a:t>
            </a:r>
            <a:endParaRPr/>
          </a:p>
          <a:p>
            <a:pPr indent="-345440" lvl="1" marL="69088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Converted the reference code into RAY for distributed computing                and task parallelism.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Montserrat"/>
              <a:buAutoNum type="arabicPeriod"/>
            </a:pP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Numba (NJIT) Optimization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Applied NJIT (Numba Just-In-Time Compiler) to accelerate execution using both serial and parallel processing.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Montserrat"/>
              <a:buAutoNum type="arabicPeriod"/>
            </a:pP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CUDA Implementation for GPU Acceleration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Converted the optimized code to CUDA for efficient GPU execution.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Montserrat"/>
              <a:buAutoNum type="arabicPeriod"/>
            </a:pP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Further Optimization for Maximum Speed</a:t>
            </a:r>
            <a:endParaRPr/>
          </a:p>
          <a:p>
            <a:pPr indent="-345439" lvl="1" marL="69088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Applied additional performance enhancements to further improve execution time and efficiency.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2016856" y="895350"/>
            <a:ext cx="14254288" cy="122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99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SCOPE OF DEEPFLOW HPC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1015529" y="3649062"/>
            <a:ext cx="16256942" cy="581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2866" lvl="1" marL="645733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990"/>
              <a:buFont typeface="Montserrat"/>
              <a:buAutoNum type="arabicPeriod"/>
            </a:pPr>
            <a:r>
              <a:rPr b="1" i="0" lang="en-US" sz="299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High-Performance Computing (HPC) Acceleration</a:t>
            </a:r>
            <a:endParaRPr/>
          </a:p>
          <a:p>
            <a:pPr indent="-322866" lvl="1" marL="645733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990"/>
              <a:buFont typeface="Arial"/>
              <a:buChar char="•"/>
            </a:pPr>
            <a:r>
              <a:rPr b="0" i="0" lang="en-US" sz="299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Utilizing DeepFlow HPC to enhance computational efficiency in large-scale data processing and simulations.</a:t>
            </a:r>
            <a:endParaRPr/>
          </a:p>
          <a:p>
            <a:pPr indent="-322866" lvl="1" marL="645733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990"/>
              <a:buFont typeface="Montserrat"/>
              <a:buAutoNum type="arabicPeriod"/>
            </a:pPr>
            <a:r>
              <a:rPr b="1" i="0" lang="en-US" sz="299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Parallel and Distributed Computing</a:t>
            </a:r>
            <a:endParaRPr/>
          </a:p>
          <a:p>
            <a:pPr indent="-322866" lvl="1" marL="645733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990"/>
              <a:buFont typeface="Arial"/>
              <a:buChar char="•"/>
            </a:pPr>
            <a:r>
              <a:rPr b="0" i="0" lang="en-US" sz="299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Implementing multi-threaded, parallel, and distributed computing techniques to optimize performance</a:t>
            </a:r>
            <a:r>
              <a:rPr b="1" i="0" lang="en-US" sz="299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-322866" lvl="1" marL="645733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990"/>
              <a:buFont typeface="Montserrat"/>
              <a:buAutoNum type="arabicPeriod"/>
            </a:pPr>
            <a:r>
              <a:rPr b="1" i="0" lang="en-US" sz="299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GPU Acceleration with CUDA</a:t>
            </a:r>
            <a:endParaRPr/>
          </a:p>
          <a:p>
            <a:pPr indent="-322866" lvl="1" marL="645733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990"/>
              <a:buFont typeface="Arial"/>
              <a:buChar char="•"/>
            </a:pPr>
            <a:r>
              <a:rPr b="0" i="0" lang="en-US" sz="299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Leveraging CUDA for GPU-based processing, enabling faster execution of computationally heavy tasks.</a:t>
            </a:r>
            <a:endParaRPr/>
          </a:p>
          <a:p>
            <a:pPr indent="-322866" lvl="1" marL="645733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990"/>
              <a:buFont typeface="Montserrat"/>
              <a:buAutoNum type="arabicPeriod"/>
            </a:pPr>
            <a:r>
              <a:rPr b="1" i="0" lang="en-US" sz="299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Scalability &amp; Performance Optimization</a:t>
            </a:r>
            <a:endParaRPr/>
          </a:p>
          <a:p>
            <a:pPr indent="-322866" lvl="1" marL="645733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990"/>
              <a:buFont typeface="Arial"/>
              <a:buChar char="•"/>
            </a:pPr>
            <a:r>
              <a:rPr b="0" i="0" lang="en-US" sz="299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Optimizing algorithms to scale across multiple nodes for improved speed and efficiency.</a:t>
            </a:r>
            <a:endParaRPr/>
          </a:p>
          <a:p>
            <a:pPr indent="0" lvl="0" marL="0" marR="0" rtl="0" algn="l">
              <a:lnSpc>
                <a:spcPct val="12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865842" y="885825"/>
            <a:ext cx="16556316" cy="1292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99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PRE-HACKATHON POSITION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330212" y="3665351"/>
            <a:ext cx="14852085" cy="534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Initially, we had only a </a:t>
            </a: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reference code without any optimization</a:t>
            </a: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In the reference implementation,</a:t>
            </a: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parallel execution was slower than serial execution </a:t>
            </a: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due to inefficient task distribution and overhead.</a:t>
            </a:r>
            <a:endParaRPr/>
          </a:p>
          <a:p>
            <a:pPr indent="-345440" lvl="1" marL="69088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The code</a:t>
            </a: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lacked proper parallelization </a:t>
            </a: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strategies, leading to performance bottlenecks.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There was </a:t>
            </a: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no GPU acceleration</a:t>
            </a: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, limiting the computational speed for large-scale processing.</a:t>
            </a:r>
            <a:endParaRPr/>
          </a:p>
          <a:p>
            <a:pPr indent="-345439" lvl="1" marL="69088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The goal was to </a:t>
            </a: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optimize the code using Ray, Numba (njit), and CUDA </a:t>
            </a: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to achieve </a:t>
            </a:r>
            <a:r>
              <a:rPr b="1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significant speed </a:t>
            </a:r>
            <a:r>
              <a:rPr b="0" i="0" lang="en-US" sz="3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improvements.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1432471" y="2860997"/>
            <a:ext cx="15423057" cy="5205282"/>
          </a:xfrm>
          <a:custGeom>
            <a:rect b="b" l="l" r="r" t="t"/>
            <a:pathLst>
              <a:path extrusionOk="0" h="5205282" w="15423057">
                <a:moveTo>
                  <a:pt x="0" y="0"/>
                </a:moveTo>
                <a:lnTo>
                  <a:pt x="15423058" y="0"/>
                </a:lnTo>
                <a:lnTo>
                  <a:pt x="15423058" y="5205282"/>
                </a:lnTo>
                <a:lnTo>
                  <a:pt x="0" y="5205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5"/>
          <p:cNvSpPr txBox="1"/>
          <p:nvPr/>
        </p:nvSpPr>
        <p:spPr>
          <a:xfrm>
            <a:off x="865842" y="876300"/>
            <a:ext cx="16393458" cy="12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25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PRE-HACKATHON RESULTS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1662948" y="6871087"/>
            <a:ext cx="10999468" cy="2652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Observations:</a:t>
            </a:r>
            <a:endParaRPr/>
          </a:p>
          <a:p>
            <a:pPr indent="-259079" lvl="1" marL="51815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399"/>
              <a:buFont typeface="Arial"/>
              <a:buChar char="•"/>
            </a:pPr>
            <a:r>
              <a:rPr b="0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Parallel execution is ~</a:t>
            </a:r>
            <a:r>
              <a:rPr b="1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4x faster than serial execution</a:t>
            </a:r>
            <a:r>
              <a:rPr b="0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-259079" lvl="1" marL="51815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399"/>
              <a:buFont typeface="Arial"/>
              <a:buChar char="•"/>
            </a:pPr>
            <a:r>
              <a:rPr b="0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Efficient task distribution using Ray</a:t>
            </a:r>
            <a:r>
              <a:rPr b="0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reduces execution time.</a:t>
            </a:r>
            <a:endParaRPr/>
          </a:p>
          <a:p>
            <a:pPr indent="-259079" lvl="1" marL="51815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399"/>
              <a:buFont typeface="Arial"/>
              <a:buChar char="•"/>
            </a:pPr>
            <a:r>
              <a:rPr b="0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The framework effectively </a:t>
            </a:r>
            <a:r>
              <a:rPr b="1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utilizes available CPU cores for optimization</a:t>
            </a:r>
            <a:r>
              <a:rPr b="0" i="0" lang="en-US" sz="23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99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326088" y="4583628"/>
            <a:ext cx="15908006" cy="2187351"/>
          </a:xfrm>
          <a:custGeom>
            <a:rect b="b" l="l" r="r" t="t"/>
            <a:pathLst>
              <a:path extrusionOk="0" h="2187351" w="15908006">
                <a:moveTo>
                  <a:pt x="0" y="0"/>
                </a:moveTo>
                <a:lnTo>
                  <a:pt x="15908006" y="0"/>
                </a:lnTo>
                <a:lnTo>
                  <a:pt x="15908006" y="2187351"/>
                </a:lnTo>
                <a:lnTo>
                  <a:pt x="0" y="21873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6"/>
          <p:cNvSpPr txBox="1"/>
          <p:nvPr/>
        </p:nvSpPr>
        <p:spPr>
          <a:xfrm>
            <a:off x="1202263" y="594738"/>
            <a:ext cx="15560881" cy="1606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9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BENCHMARK RESULTS</a:t>
            </a:r>
            <a:r>
              <a:rPr b="1" i="0" lang="en-US" sz="460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(RAY FRAMEWORK CODE)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1662948" y="2840169"/>
            <a:ext cx="10999468" cy="1693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Execution Time for 800 × 800 Grid Size</a:t>
            </a:r>
            <a:endParaRPr/>
          </a:p>
          <a:p>
            <a:pPr indent="-248284" lvl="1" marL="496569" marR="0" rtl="0" algn="l">
              <a:lnSpc>
                <a:spcPct val="150021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Serial Execution: </a:t>
            </a:r>
            <a:r>
              <a:rPr b="1" i="0" lang="en-US" sz="22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36.6728 seconds</a:t>
            </a:r>
            <a:endParaRPr/>
          </a:p>
          <a:p>
            <a:pPr indent="-248284" lvl="1" marL="496569" marR="0" rtl="0" algn="l">
              <a:lnSpc>
                <a:spcPct val="150021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299"/>
              <a:buFont typeface="Arial"/>
              <a:buChar char="•"/>
            </a:pPr>
            <a:r>
              <a:rPr b="0" i="0" lang="en-US" sz="22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Parallel Execution (Ray):</a:t>
            </a:r>
            <a:r>
              <a:rPr b="1" i="0" lang="en-US" sz="22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9.0363 seconds</a:t>
            </a:r>
            <a:endParaRPr/>
          </a:p>
          <a:p>
            <a:pPr indent="0" lvl="0" marL="0" marR="0" rtl="0" algn="l">
              <a:lnSpc>
                <a:spcPct val="15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99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/>
        </p:nvSpPr>
        <p:spPr>
          <a:xfrm>
            <a:off x="1226681" y="7202400"/>
            <a:ext cx="11739209" cy="237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Observations: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NJIT parallel execution significantly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improves performance compared to its serial version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However, it is still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slower than Ray’s parallel execution (9.0363 seconds).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Further optimizations are required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to enhance speed and efficiency.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971550" y="3993175"/>
            <a:ext cx="15527227" cy="1533314"/>
          </a:xfrm>
          <a:custGeom>
            <a:rect b="b" l="l" r="r" t="t"/>
            <a:pathLst>
              <a:path extrusionOk="0" h="1533314" w="15527227">
                <a:moveTo>
                  <a:pt x="0" y="0"/>
                </a:moveTo>
                <a:lnTo>
                  <a:pt x="15527227" y="0"/>
                </a:lnTo>
                <a:lnTo>
                  <a:pt x="15527227" y="1533314"/>
                </a:lnTo>
                <a:lnTo>
                  <a:pt x="0" y="15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7"/>
          <p:cNvSpPr/>
          <p:nvPr/>
        </p:nvSpPr>
        <p:spPr>
          <a:xfrm>
            <a:off x="1036181" y="5573055"/>
            <a:ext cx="15632382" cy="1582779"/>
          </a:xfrm>
          <a:custGeom>
            <a:rect b="b" l="l" r="r" t="t"/>
            <a:pathLst>
              <a:path extrusionOk="0" h="1582779" w="15632382">
                <a:moveTo>
                  <a:pt x="0" y="0"/>
                </a:moveTo>
                <a:lnTo>
                  <a:pt x="15632383" y="0"/>
                </a:lnTo>
                <a:lnTo>
                  <a:pt x="15632383" y="1582779"/>
                </a:lnTo>
                <a:lnTo>
                  <a:pt x="0" y="1582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7"/>
          <p:cNvSpPr txBox="1"/>
          <p:nvPr/>
        </p:nvSpPr>
        <p:spPr>
          <a:xfrm>
            <a:off x="197874" y="942975"/>
            <a:ext cx="17892252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BENCHMARK RESULTS</a:t>
            </a:r>
            <a:r>
              <a:rPr b="1" i="0" lang="en-US" sz="48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(NJIT EXECUTION)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1226681" y="2231664"/>
            <a:ext cx="10999468" cy="157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Execution Time for 800 × 800 Grid Size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Serial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Execution (NJIT):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104.29 seconds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Parallel 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Execution (NJIT):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22.19 seconds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1226681" y="3680258"/>
            <a:ext cx="3261274" cy="4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Serial Execution:</a:t>
            </a:r>
            <a:endParaRPr/>
          </a:p>
        </p:txBody>
      </p:sp>
      <p:sp>
        <p:nvSpPr>
          <p:cNvPr id="137" name="Google Shape;137;p7"/>
          <p:cNvSpPr txBox="1"/>
          <p:nvPr/>
        </p:nvSpPr>
        <p:spPr>
          <a:xfrm>
            <a:off x="1226681" y="5313010"/>
            <a:ext cx="3261274" cy="4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Parallel Execution: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/>
        </p:nvSpPr>
        <p:spPr>
          <a:xfrm>
            <a:off x="1226681" y="6541974"/>
            <a:ext cx="11739209" cy="237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Observations: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CUDA execution provided the best performance so far.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Significant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improvement over NJIT parallel (22.19s)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Ray parallel (9.0363s).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GPU optimization proves to be highly efficient for high-performance computing tasks.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074281" y="4588003"/>
            <a:ext cx="14017573" cy="1384235"/>
          </a:xfrm>
          <a:custGeom>
            <a:rect b="b" l="l" r="r" t="t"/>
            <a:pathLst>
              <a:path extrusionOk="0" h="1384235" w="14017573">
                <a:moveTo>
                  <a:pt x="0" y="0"/>
                </a:moveTo>
                <a:lnTo>
                  <a:pt x="14017573" y="0"/>
                </a:lnTo>
                <a:lnTo>
                  <a:pt x="14017573" y="1384235"/>
                </a:lnTo>
                <a:lnTo>
                  <a:pt x="0" y="1384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8"/>
          <p:cNvSpPr txBox="1"/>
          <p:nvPr/>
        </p:nvSpPr>
        <p:spPr>
          <a:xfrm>
            <a:off x="197874" y="942975"/>
            <a:ext cx="17892252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BENCHMARK RESULTS</a:t>
            </a:r>
            <a:r>
              <a:rPr b="1" i="0" lang="en-US" sz="48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(CUDA EXECUTION)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1226681" y="2858064"/>
            <a:ext cx="10999468" cy="157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Execution Time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Grid Size: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800 × 800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Execution on GPU (CUDA):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3.4927 seconds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2785531" y="2506718"/>
            <a:ext cx="12716939" cy="7497270"/>
          </a:xfrm>
          <a:custGeom>
            <a:rect b="b" l="l" r="r" t="t"/>
            <a:pathLst>
              <a:path extrusionOk="0" h="7497270" w="12716939">
                <a:moveTo>
                  <a:pt x="0" y="0"/>
                </a:moveTo>
                <a:lnTo>
                  <a:pt x="12716938" y="0"/>
                </a:lnTo>
                <a:lnTo>
                  <a:pt x="12716938" y="7497270"/>
                </a:lnTo>
                <a:lnTo>
                  <a:pt x="0" y="7497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6011"/>
            </a:stretch>
          </a:blipFill>
          <a:ln>
            <a:noFill/>
          </a:ln>
        </p:spPr>
      </p:sp>
      <p:sp>
        <p:nvSpPr>
          <p:cNvPr id="151" name="Google Shape;151;p9"/>
          <p:cNvSpPr txBox="1"/>
          <p:nvPr/>
        </p:nvSpPr>
        <p:spPr>
          <a:xfrm>
            <a:off x="197874" y="819150"/>
            <a:ext cx="17892252" cy="795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0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COMPARISON OF EXECUTION TIME FOR ALL THE CODES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/>
        </p:nvSpPr>
        <p:spPr>
          <a:xfrm>
            <a:off x="197874" y="838200"/>
            <a:ext cx="17892252" cy="613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SPEEDUP OF DIFFERENT IMPLEMENTATIONS COMPARED TO REFERENCE</a:t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2887363" y="2334877"/>
            <a:ext cx="12513275" cy="7674070"/>
          </a:xfrm>
          <a:custGeom>
            <a:rect b="b" l="l" r="r" t="t"/>
            <a:pathLst>
              <a:path extrusionOk="0" h="7674070" w="12513275">
                <a:moveTo>
                  <a:pt x="0" y="0"/>
                </a:moveTo>
                <a:lnTo>
                  <a:pt x="12513274" y="0"/>
                </a:lnTo>
                <a:lnTo>
                  <a:pt x="12513274" y="7674070"/>
                </a:lnTo>
                <a:lnTo>
                  <a:pt x="0" y="7674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5579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3776876" y="3640258"/>
            <a:ext cx="9599827" cy="3623935"/>
          </a:xfrm>
          <a:custGeom>
            <a:rect b="b" l="l" r="r" t="t"/>
            <a:pathLst>
              <a:path extrusionOk="0" h="3623935" w="9599827">
                <a:moveTo>
                  <a:pt x="0" y="0"/>
                </a:moveTo>
                <a:lnTo>
                  <a:pt x="9599827" y="0"/>
                </a:lnTo>
                <a:lnTo>
                  <a:pt x="9599827" y="3623935"/>
                </a:lnTo>
                <a:lnTo>
                  <a:pt x="0" y="36239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1"/>
          <p:cNvSpPr txBox="1"/>
          <p:nvPr/>
        </p:nvSpPr>
        <p:spPr>
          <a:xfrm>
            <a:off x="1226681" y="7349918"/>
            <a:ext cx="12558831" cy="237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Key Improvements: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Further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optimized CUDA kernel 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for better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memory utilization and thread execution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Achieved a massive speedup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compared to the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previous CUDA execution.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Utilized efficient memory access patterns, shared memory, and reduced kernel launch overhead.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1412330" y="735541"/>
            <a:ext cx="14328920" cy="1366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43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BENCHMARK RESULTS</a:t>
            </a:r>
            <a:endParaRPr/>
          </a:p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(OPTIMIZED CUDA EXECUTION)</a:t>
            </a: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1226681" y="2231664"/>
            <a:ext cx="10999468" cy="1577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Content: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Grid Size: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1024 × 1024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Execution on GPU (Optimized CUDA):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0.116 seconds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3062084" y="2588538"/>
            <a:ext cx="11112082" cy="5556041"/>
          </a:xfrm>
          <a:custGeom>
            <a:rect b="b" l="l" r="r" t="t"/>
            <a:pathLst>
              <a:path extrusionOk="0" h="5556041" w="11112082">
                <a:moveTo>
                  <a:pt x="0" y="0"/>
                </a:moveTo>
                <a:lnTo>
                  <a:pt x="11112082" y="0"/>
                </a:lnTo>
                <a:lnTo>
                  <a:pt x="11112082" y="5556041"/>
                </a:lnTo>
                <a:lnTo>
                  <a:pt x="0" y="55560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2"/>
          <p:cNvSpPr txBox="1"/>
          <p:nvPr/>
        </p:nvSpPr>
        <p:spPr>
          <a:xfrm>
            <a:off x="1425090" y="962025"/>
            <a:ext cx="14328920" cy="1321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43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PERFORMANCE  SCALING GRAPH</a:t>
            </a:r>
            <a:endParaRPr/>
          </a:p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(Optimized CUDA execution)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/>
          <p:nvPr/>
        </p:nvSpPr>
        <p:spPr>
          <a:xfrm>
            <a:off x="2262932" y="2993276"/>
            <a:ext cx="12653236" cy="6265024"/>
          </a:xfrm>
          <a:custGeom>
            <a:rect b="b" l="l" r="r" t="t"/>
            <a:pathLst>
              <a:path extrusionOk="0" h="6265024" w="12653236">
                <a:moveTo>
                  <a:pt x="0" y="0"/>
                </a:moveTo>
                <a:lnTo>
                  <a:pt x="12653236" y="0"/>
                </a:lnTo>
                <a:lnTo>
                  <a:pt x="12653236" y="6265024"/>
                </a:lnTo>
                <a:lnTo>
                  <a:pt x="0" y="62650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3"/>
          <p:cNvSpPr txBox="1"/>
          <p:nvPr/>
        </p:nvSpPr>
        <p:spPr>
          <a:xfrm>
            <a:off x="1425090" y="962025"/>
            <a:ext cx="14328920" cy="1321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43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MEMORY USES VS GRID SIZE</a:t>
            </a:r>
            <a:endParaRPr/>
          </a:p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(Optimized CUDA execution)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/>
          <p:nvPr/>
        </p:nvSpPr>
        <p:spPr>
          <a:xfrm>
            <a:off x="2067081" y="2498980"/>
            <a:ext cx="13044938" cy="6397722"/>
          </a:xfrm>
          <a:custGeom>
            <a:rect b="b" l="l" r="r" t="t"/>
            <a:pathLst>
              <a:path extrusionOk="0" h="6397722" w="13044938">
                <a:moveTo>
                  <a:pt x="0" y="0"/>
                </a:moveTo>
                <a:lnTo>
                  <a:pt x="13044938" y="0"/>
                </a:lnTo>
                <a:lnTo>
                  <a:pt x="13044938" y="6397722"/>
                </a:lnTo>
                <a:lnTo>
                  <a:pt x="0" y="6397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4"/>
          <p:cNvSpPr txBox="1"/>
          <p:nvPr/>
        </p:nvSpPr>
        <p:spPr>
          <a:xfrm>
            <a:off x="1425090" y="599839"/>
            <a:ext cx="14328920" cy="1321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43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FIELD SUM GROWTH</a:t>
            </a:r>
            <a:endParaRPr/>
          </a:p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43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(Optimized CUDA execution)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/>
        </p:nvSpPr>
        <p:spPr>
          <a:xfrm>
            <a:off x="255666" y="634365"/>
            <a:ext cx="17776667" cy="712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CUDA OPTIMIZATION</a:t>
            </a:r>
            <a:r>
              <a:rPr b="1" i="0" lang="en-US" sz="42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: FIRST VS. OPTIMIZED IMPLEMENTATION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1228725" y="1970720"/>
            <a:ext cx="14344764" cy="757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Key Differences: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Montserrat"/>
              <a:buAutoNum type="arabicPeriod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Use of Shared Memory for Optimization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First Code: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Uses global memory for all operations.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Second Code: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Uses shared memory to optimize access patterns and reduce redundant memory fetches.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Advantage: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Reduces global memory bandwidth usage, improving performance.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Montserrat"/>
              <a:buAutoNum type="arabicPeriod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Advection Scheme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First Code: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Uses a simple upwind scheme (integer-based movement).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Second Code: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Uses a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semi-Lagrangian method with bilinear interpolation.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Advantage: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More accurate and stable for larger time steps.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Montserrat"/>
              <a:buAutoNum type="arabicPeriod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Projection Step (Pressure Solver)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First Code: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Uses a simple iterative method.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Second Code: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Uses a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Jacobi iteration method 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for solving the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Poisson equation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Advantage: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Jacobi method converges faster with fewer iterations.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Montserrat"/>
              <a:buAutoNum type="arabicPeriod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Thread Block Configuration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First Code: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Uses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(16,16)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threads per block.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Second Code: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Uses </a:t>
            </a: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(32,32) 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threads per block, optimized for newer GPUs.</a:t>
            </a:r>
            <a:endParaRPr/>
          </a:p>
          <a:p>
            <a:pPr indent="-302260" lvl="2" marL="90678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⚬"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Advantage:</a:t>
            </a: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Larger blocks increase computational density.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/>
        </p:nvSpPr>
        <p:spPr>
          <a:xfrm>
            <a:off x="669879" y="667997"/>
            <a:ext cx="15562431" cy="1268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75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CUDA OPTIMIZATION</a:t>
            </a:r>
            <a:endParaRPr/>
          </a:p>
          <a:p>
            <a:pPr indent="0" lvl="0" marL="0" marR="0" rtl="0" algn="ctr">
              <a:lnSpc>
                <a:spcPct val="1400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75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FIRST VS. OPTIMIZED IMPLEMENTATION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1897071" y="2374173"/>
            <a:ext cx="14344764" cy="774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5. Boundary Handling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First Code:</a:t>
            </a: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Explicitly sets boundary conditions in each kernel.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Second Code: </a:t>
            </a: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Uses shared memory for halo regions, improving efficiency.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Advantage: </a:t>
            </a: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Avoids redundant reads/writes to global memory.</a:t>
            </a:r>
            <a:endParaRPr/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6. Memory Usage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First Code:</a:t>
            </a: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Manages only essential GPU arrays.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Second Code: </a:t>
            </a: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Uses psutil and os for memory tracking (not shown in code).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Advantage:</a:t>
            </a: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Helps optimize memory usage dynamically.</a:t>
            </a:r>
            <a:endParaRPr/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Final Verdict:</a:t>
            </a:r>
            <a:endParaRPr/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The second implementation is significantly more optimized due to: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Shared memory utilization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More accurate semi-Lagrangian advection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Better projection solver (Jacobi method)</a:t>
            </a:r>
            <a:endParaRPr/>
          </a:p>
          <a:p>
            <a:pPr indent="-280669" lvl="1" marL="561337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Improved memory management</a:t>
            </a:r>
            <a:endParaRPr/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99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>
            <a:off x="1897071" y="6228006"/>
            <a:ext cx="13201298" cy="2594678"/>
          </a:xfrm>
          <a:custGeom>
            <a:rect b="b" l="l" r="r" t="t"/>
            <a:pathLst>
              <a:path extrusionOk="0" h="2594678" w="13201298">
                <a:moveTo>
                  <a:pt x="0" y="0"/>
                </a:moveTo>
                <a:lnTo>
                  <a:pt x="13201299" y="0"/>
                </a:lnTo>
                <a:lnTo>
                  <a:pt x="13201299" y="2594677"/>
                </a:lnTo>
                <a:lnTo>
                  <a:pt x="0" y="2594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7"/>
          <p:cNvSpPr txBox="1"/>
          <p:nvPr/>
        </p:nvSpPr>
        <p:spPr>
          <a:xfrm>
            <a:off x="746262" y="942975"/>
            <a:ext cx="16795477" cy="77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PERFORMANCE COMPARISON &amp; SPEEDUP ANALYSIS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1028700" y="2196877"/>
            <a:ext cx="13079990" cy="2377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Key Observations: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CUDA Implementation provides a 164.5x speedup over the reference code.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More Optimized CUDA achieves an incredible 3682x speedup (considering grid scaling).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GPU acceleration drastically reduces execution time, making large-scale computations feasible.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1028700" y="4517167"/>
            <a:ext cx="13079990" cy="11774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Final Verdict: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The optimized CUDA version is highly efficient, leveraging shared memory, better solvers, and improved memory access for maximum speedup.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 txBox="1"/>
          <p:nvPr/>
        </p:nvSpPr>
        <p:spPr>
          <a:xfrm>
            <a:off x="1897071" y="942975"/>
            <a:ext cx="14625431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LEARNINGS FROM THE HACKATHON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1345863" y="1936657"/>
            <a:ext cx="15727847" cy="798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During this hackathon, we gained valuable hands-on experience in high-performance computing (HPC) and GPU acceleration. Below are the key learnings: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6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1. System Setup &amp; Environment Configuration: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Logged into Param Kamrupa, an in-house HPC system.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Set up a virtual environment to manage dependencies.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2. Optimization Journey: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Ray Framework: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Converted reference code into Ray-based parallel execution.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Understood task distribution &amp; parallel computing.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Numba &amp; NJIT Optimization: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Implemented @njit for serial and parallel execution.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Observed performance trade-offs between CPU parallel vs. serial execution.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CUDA Programming: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Learned CUDA fundamentals and implemented GPU-accelerated code.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Used 16×16 thread blocks for initial CUDA implementation.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Optimized further with 36×36 thread blocks, improving memory access patterns.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3. HPC &amp; GPU Computing on Param Kamrupa: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Understood job scheduling, compute allocation, and login procedures.</a:t>
            </a:r>
            <a:endParaRPr/>
          </a:p>
          <a:p>
            <a:pPr indent="-216549" lvl="1" marL="433101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006"/>
              <a:buFont typeface="Arial"/>
              <a:buChar char="•"/>
            </a:pPr>
            <a:r>
              <a:rPr b="0" i="0" lang="en-US" sz="2006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Leveraged GPU acceleration to achieve massive speedups.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6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/>
        </p:nvSpPr>
        <p:spPr>
          <a:xfrm>
            <a:off x="1518266" y="1184870"/>
            <a:ext cx="15251468" cy="84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sng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FUTURE SCOPE &amp; FURTHER OPTIMIZATIONS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28700" y="2480310"/>
            <a:ext cx="14675056" cy="6778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To push the performance even further, we can explore the following future optimizations: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Advanced Profiling &amp; Bottleneck Analysis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Use Nsight Systems &amp; Nsight Compute for in-depth GPU profiling.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Identify memory bottlenecks, warp divergences, and cache utilization issues.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Optimized Memory Management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Implement shared memory tiling for better coalesced memory access.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Explore register-level optimizations to minimize global memory fetches.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Hybrid CPU-GPU Execution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Use OpenMP for CPU parallelization alongside CUDA for hybrid execution.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Optimize data transfer between host (CPU) and device (GPU) using pinned memory &amp; async transfers.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Better Convergence Techniques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Replace Jacobi Iteration with Multigrid Methods for faster pressure solving.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Experiment with conjugate gradient solvers for more efficient computations.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 Auto-Tuning &amp; AI-Assisted Optimization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Implement auto-tuning of CUDA parameters (grid/block size) for best performance.</a:t>
            </a:r>
            <a:endParaRPr/>
          </a:p>
          <a:p>
            <a:pPr indent="-226695" lvl="1" marL="45339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D1F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Use AI-driven heuristics to dynamically adjust computational load based on runtime profiling.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1D1D1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/>
          <p:nvPr/>
        </p:nvSpPr>
        <p:spPr>
          <a:xfrm>
            <a:off x="4106515" y="3922745"/>
            <a:ext cx="10074970" cy="1642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076665" y="6097294"/>
            <a:ext cx="6134669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D1D1F"/>
                </a:solidFill>
                <a:latin typeface="Montserrat"/>
                <a:ea typeface="Montserrat"/>
                <a:cs typeface="Montserrat"/>
                <a:sym typeface="Montserrat"/>
              </a:rPr>
              <a:t>Algorithm Avengers</a:t>
            </a:r>
            <a:endParaRPr/>
          </a:p>
        </p:txBody>
      </p:sp>
      <p:cxnSp>
        <p:nvCxnSpPr>
          <p:cNvPr id="222" name="Google Shape;222;p20"/>
          <p:cNvCxnSpPr/>
          <p:nvPr/>
        </p:nvCxnSpPr>
        <p:spPr>
          <a:xfrm>
            <a:off x="8434614" y="5708403"/>
            <a:ext cx="1418771" cy="0"/>
          </a:xfrm>
          <a:prstGeom prst="straightConnector1">
            <a:avLst/>
          </a:prstGeom>
          <a:noFill/>
          <a:ln cap="flat" cmpd="sng" w="47625">
            <a:solidFill>
              <a:srgbClr val="A2823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